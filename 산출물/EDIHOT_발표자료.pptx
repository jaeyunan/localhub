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2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FCD"/>
    <a:srgbClr val="EF79C5"/>
    <a:srgbClr val="FF156E"/>
    <a:srgbClr val="262626"/>
    <a:srgbClr val="5F5F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C3FD50-43AA-4439-A722-51C531D4C3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0108E4D-9FDB-4C0B-A7EA-825E67FE5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48286-3176-4091-8B2E-705E6EE67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6A80D9-F26C-487E-97D3-C9B652694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25CF75-E375-4DD2-8C63-6FCB17C50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8632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372C0-7619-4BFE-A6BA-30410869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130401-C5CD-4243-8C27-5DE892756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4692F4-7939-46D7-90F6-262F95DEE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B33220-27E5-418D-AD6A-5F4BAC1C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9F6522-D2DB-4F14-9352-D03EDA1D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9873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0ED83-E93C-422E-987D-5A0D90C09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14C0474-BB9D-4E62-901F-2D299925B6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37840A-4C94-4F5F-A1C7-3874CD1D7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E6B0F56-3458-4286-BF60-EC78B3A2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B92F90-057A-436C-981A-5E55A4FB5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2515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60432B-46F5-46D3-A987-C665EDFA9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35A363-11DC-4C47-ADF3-DFE0D6B51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D47C7-D4A1-4CDB-8416-6E958ED51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6F1AC23-BAA5-4D99-B0F0-E3D7F0BE9B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171F21-7ABA-4BB2-9278-889868237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35DD91B-A3FC-4237-9606-881F08E53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88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4F173A-1876-48A2-8CC6-7D467CD62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C56A8A-901B-4980-8093-25E38197A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D9394B2-F947-4503-8BB9-0683E2995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9CB35CC-66AD-402F-AEC2-DC8CA4923E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C533EF0-2ED6-455A-945D-42505AC98E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534572-A4A8-4A28-8C1F-0B74457AF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BBE5339-58C9-4A09-9FBA-FC0886B97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689D244-CB40-4294-BCDF-705899F3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6547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1C2AFA-492B-4A8D-BE4A-F6755818E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C898A4-7351-4490-8D81-E382C5391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CECE062-DF32-44B1-AAAC-DDF488D85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673FDD-F8AB-4069-887C-A34826F2A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0593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CFF0541-5F22-47FB-B07E-969C56DC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C49EB7-C489-4EFF-9180-03792CD2D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5101F4-8EA1-40A4-AFF6-A3308B81A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518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5301C-BA87-422A-8C5D-759A19E24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0B5E99-BC06-4F14-B786-DA3C67C5A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30C6A6-C09D-49A3-BBF6-414C95664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EEFDC6-BF50-4B4E-A669-E701A0A34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650935-E6EF-4836-9BBD-2900ED46D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CF4071-3CC5-4BBC-AA7B-5FFC127D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377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586AE9-B4ED-41D3-8BC1-F778C39DC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5CF0AB5-2F42-4F3B-8F94-5D9DFC1D1A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2F14B7A-258B-41B3-9E39-E5D3C3F2B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1C5FDE-5DAB-4AD6-9E42-69EEDF84A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132D5B8-9686-41CC-8020-138809151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314D74-82EB-4330-8D1C-75A70403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8508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5B1FB1-7851-4C0E-9888-7F51CA441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B8EF293-914D-49C3-806D-A301C7E7B9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C4FA5-E085-4B6A-8C01-F7957CC01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1FBD87-5940-456B-8061-3CC245207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DB1A69-13A8-4D04-8030-F3137DA83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2544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FEBDE3B-3D6C-402D-AFA0-E46DA4A3B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7937CB9-D4E6-4835-9D62-7F545F97F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359481-8830-435E-9C5F-B8352BE1F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FDA0A8-11E2-421C-9A18-0EB5E1443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38D5E8-96FD-491B-9DE0-2FDFEFC6A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8380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080EDC0-851D-4C33-A0CC-729E332AA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2CDBE3-9781-4496-A8A9-195F231F8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7A3762-57C8-4BD8-ADC6-2B38B5742A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6B285E-296B-4420-B416-2D9638FEEA72}" type="datetimeFigureOut">
              <a:rPr lang="ko-KR" altLang="en-US" smtClean="0"/>
              <a:t>2026-07-16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8B0DFC-C605-4745-A53A-87919C43A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A83A6E-F573-44ED-A134-D52BC0818A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19BA90-E753-4D23-8C9F-473C7566B3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75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odihot.netlify.app/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53D6E088-1F4C-44A8-BFC0-B31B8442B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1379"/>
            <a:ext cx="12192000" cy="579524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F0948E9-2F6C-4157-82E7-990A0CDC82BA}"/>
              </a:ext>
            </a:extLst>
          </p:cNvPr>
          <p:cNvSpPr txBox="1"/>
          <p:nvPr/>
        </p:nvSpPr>
        <p:spPr>
          <a:xfrm>
            <a:off x="2921725" y="5349875"/>
            <a:ext cx="634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조원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안재윤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박재원</a:t>
            </a:r>
            <a:r>
              <a:rPr lang="en-US" altLang="ko-KR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, </a:t>
            </a:r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+mj-ea"/>
                <a:ea typeface="+mj-ea"/>
              </a:rPr>
              <a:t>김재희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3F9A9-00AF-405E-B9A7-4E4B03A6E36C}"/>
              </a:ext>
            </a:extLst>
          </p:cNvPr>
          <p:cNvSpPr txBox="1"/>
          <p:nvPr/>
        </p:nvSpPr>
        <p:spPr>
          <a:xfrm>
            <a:off x="2921725" y="1400145"/>
            <a:ext cx="63485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dirty="0">
                <a:solidFill>
                  <a:schemeClr val="bg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공공데이터 기반 지역 정보 공유 커뮤니티 서비스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CE6349-702B-421A-B8F6-1E682A607524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208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0BF949-2A45-4D55-9A51-2C7FDC9A6EA7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CA69BD90-D2CF-4BEE-BE5C-E6ACD446010E}"/>
              </a:ext>
            </a:extLst>
          </p:cNvPr>
          <p:cNvSpPr/>
          <p:nvPr/>
        </p:nvSpPr>
        <p:spPr>
          <a:xfrm>
            <a:off x="1648691" y="2020916"/>
            <a:ext cx="8894617" cy="3840480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786D1-5CC7-4D67-BA56-CC98EDF74537}"/>
              </a:ext>
            </a:extLst>
          </p:cNvPr>
          <p:cNvSpPr txBox="1"/>
          <p:nvPr/>
        </p:nvSpPr>
        <p:spPr>
          <a:xfrm>
            <a:off x="2547130" y="3056298"/>
            <a:ext cx="7097738" cy="17697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sz="2000" dirty="0"/>
              <a:t>서울 방문 관광객이 해당 지역에 아는 것이 제대로 없을 때</a:t>
            </a:r>
            <a:r>
              <a:rPr lang="en-US" altLang="ko-KR" sz="2000" dirty="0"/>
              <a:t>, 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sz="2000" dirty="0"/>
              <a:t>기존의 지도 사이트만으론 필요한 정보를 얻는게 쉽지 않다</a:t>
            </a:r>
            <a:r>
              <a:rPr lang="en-US" altLang="ko-KR" sz="2000" dirty="0"/>
              <a:t>. 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lang="ko-KR" altLang="en-US" sz="2000" dirty="0"/>
              <a:t>서울 방문 관광객들을 위한 지도 서비스를 구현</a:t>
            </a:r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ko-KR" altLang="en-US" dirty="0"/>
              <a:t>	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06236-2377-45C9-AE86-6AF26218BA32}"/>
              </a:ext>
            </a:extLst>
          </p:cNvPr>
          <p:cNvSpPr txBox="1"/>
          <p:nvPr/>
        </p:nvSpPr>
        <p:spPr>
          <a:xfrm>
            <a:off x="914401" y="731520"/>
            <a:ext cx="5495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lang="en-US" sz="2400" dirty="0"/>
              <a:t>01. </a:t>
            </a:r>
            <a:r>
              <a:rPr lang="ko-KR" altLang="en-US" sz="2400" dirty="0"/>
              <a:t>기획 의도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910017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40BF949-2A45-4D55-9A51-2C7FDC9A6EA7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  <p:sp>
        <p:nvSpPr>
          <p:cNvPr id="12" name="Rounded Rectangle 4">
            <a:extLst>
              <a:ext uri="{FF2B5EF4-FFF2-40B4-BE49-F238E27FC236}">
                <a16:creationId xmlns:a16="http://schemas.microsoft.com/office/drawing/2014/main" id="{DA080E8C-2213-4BCB-9802-9FD238F6B894}"/>
              </a:ext>
            </a:extLst>
          </p:cNvPr>
          <p:cNvSpPr/>
          <p:nvPr/>
        </p:nvSpPr>
        <p:spPr>
          <a:xfrm>
            <a:off x="914400" y="2011680"/>
            <a:ext cx="3200400" cy="3840480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649ECA-415C-4D7B-A0C7-8B8753251BC8}"/>
              </a:ext>
            </a:extLst>
          </p:cNvPr>
          <p:cNvSpPr txBox="1"/>
          <p:nvPr/>
        </p:nvSpPr>
        <p:spPr>
          <a:xfrm>
            <a:off x="1097280" y="2286000"/>
            <a:ext cx="283464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2A7A"/>
                </a:solidFill>
                <a:latin typeface="Arial"/>
              </a:defRPr>
            </a:pPr>
            <a:r>
              <a:rPr dirty="0">
                <a:solidFill>
                  <a:srgbClr val="FFAFCD"/>
                </a:solidFill>
              </a:rPr>
              <a:t>01</a:t>
            </a: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커뮤니티</a:t>
            </a:r>
            <a:r>
              <a:rPr dirty="0"/>
              <a:t> </a:t>
            </a:r>
            <a:r>
              <a:rPr dirty="0" err="1"/>
              <a:t>게시판</a:t>
            </a:r>
            <a:r>
              <a:rPr lang="en-US" dirty="0"/>
              <a:t> </a:t>
            </a:r>
            <a:r>
              <a:rPr lang="ko-KR" altLang="en-US" dirty="0"/>
              <a:t>기능</a:t>
            </a:r>
            <a:endParaRPr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dirty="0"/>
              <a:t>-</a:t>
            </a:r>
            <a:r>
              <a:rPr lang="ko-KR" altLang="en-US" dirty="0"/>
              <a:t>컨텐츠 별 게시글 구분</a:t>
            </a:r>
            <a:endParaRPr lang="en-US" altLang="ko-KR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endParaRPr lang="en-US" altLang="ko-KR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dirty="0"/>
              <a:t>-</a:t>
            </a:r>
            <a:r>
              <a:rPr lang="ko-KR" altLang="en-US" dirty="0"/>
              <a:t>비밀번호 입력 시 게시글 삭제 가능</a:t>
            </a:r>
            <a:endParaRPr lang="en-US" altLang="ko-KR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endParaRPr lang="en-US" altLang="ko-KR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dirty="0"/>
              <a:t>-</a:t>
            </a:r>
            <a:r>
              <a:rPr lang="ko-KR" altLang="en-US" dirty="0"/>
              <a:t>상세창으로 전문 보기 가능</a:t>
            </a:r>
            <a:endParaRPr lang="en-US" altLang="ko-KR" dirty="0"/>
          </a:p>
        </p:txBody>
      </p:sp>
      <p:sp>
        <p:nvSpPr>
          <p:cNvPr id="19" name="Rounded Rectangle 4">
            <a:extLst>
              <a:ext uri="{FF2B5EF4-FFF2-40B4-BE49-F238E27FC236}">
                <a16:creationId xmlns:a16="http://schemas.microsoft.com/office/drawing/2014/main" id="{CA69BD90-D2CF-4BEE-BE5C-E6ACD446010E}"/>
              </a:ext>
            </a:extLst>
          </p:cNvPr>
          <p:cNvSpPr/>
          <p:nvPr/>
        </p:nvSpPr>
        <p:spPr>
          <a:xfrm>
            <a:off x="4480560" y="2011680"/>
            <a:ext cx="3200400" cy="3840480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F786D1-5CC7-4D67-BA56-CC98EDF74537}"/>
              </a:ext>
            </a:extLst>
          </p:cNvPr>
          <p:cNvSpPr txBox="1"/>
          <p:nvPr/>
        </p:nvSpPr>
        <p:spPr>
          <a:xfrm>
            <a:off x="4663440" y="2286000"/>
            <a:ext cx="283464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2A7A"/>
                </a:solidFill>
                <a:latin typeface="Arial"/>
              </a:defRPr>
            </a:pPr>
            <a:r>
              <a:rPr lang="en-US" dirty="0">
                <a:solidFill>
                  <a:srgbClr val="FFAFCD"/>
                </a:solidFill>
              </a:rPr>
              <a:t>02</a:t>
            </a:r>
            <a:endParaRPr dirty="0">
              <a:solidFill>
                <a:srgbClr val="FFAFCD"/>
              </a:solidFill>
            </a:endParaRP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lang="en-US" altLang="ko-KR" dirty="0" err="1"/>
              <a:t>OpenAI</a:t>
            </a:r>
            <a:r>
              <a:rPr lang="en-US" altLang="ko-KR" dirty="0"/>
              <a:t> API</a:t>
            </a:r>
            <a:r>
              <a:rPr lang="ko-KR" altLang="en-US" dirty="0"/>
              <a:t>기반 </a:t>
            </a:r>
            <a:r>
              <a:rPr lang="ko-KR" altLang="en-US" dirty="0" err="1"/>
              <a:t>챗봇</a:t>
            </a:r>
            <a:endParaRPr lang="en-US" altLang="ko-KR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altLang="ko-KR" dirty="0"/>
              <a:t>-</a:t>
            </a:r>
            <a:r>
              <a:rPr lang="ko-KR" altLang="en-US" dirty="0"/>
              <a:t>관광지 추천</a:t>
            </a:r>
            <a:r>
              <a:rPr lang="en-US" altLang="ko-KR" dirty="0"/>
              <a:t>, </a:t>
            </a:r>
            <a:r>
              <a:rPr lang="ko-KR" altLang="en-US" dirty="0"/>
              <a:t>축제 일정</a:t>
            </a:r>
            <a:r>
              <a:rPr lang="en-US" altLang="ko-KR" dirty="0"/>
              <a:t>, </a:t>
            </a:r>
            <a:r>
              <a:rPr lang="ko-KR" altLang="en-US" dirty="0"/>
              <a:t>모범음식점 위치</a:t>
            </a:r>
            <a:r>
              <a:rPr lang="en-US" altLang="ko-KR" dirty="0"/>
              <a:t>… </a:t>
            </a:r>
            <a:r>
              <a:rPr lang="ko-KR" altLang="en-US" dirty="0"/>
              <a:t>등 질의에 대한 응답</a:t>
            </a:r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ko-KR" altLang="en-US" dirty="0"/>
              <a:t>	</a:t>
            </a:r>
          </a:p>
        </p:txBody>
      </p:sp>
      <p:sp>
        <p:nvSpPr>
          <p:cNvPr id="21" name="Rounded Rectangle 4">
            <a:extLst>
              <a:ext uri="{FF2B5EF4-FFF2-40B4-BE49-F238E27FC236}">
                <a16:creationId xmlns:a16="http://schemas.microsoft.com/office/drawing/2014/main" id="{F3AC015E-078B-499B-B3E9-F362EC54F6F8}"/>
              </a:ext>
            </a:extLst>
          </p:cNvPr>
          <p:cNvSpPr/>
          <p:nvPr/>
        </p:nvSpPr>
        <p:spPr>
          <a:xfrm>
            <a:off x="8046720" y="2011680"/>
            <a:ext cx="3200400" cy="3840480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116D7-11B4-4256-BE8C-767E6F90B70B}"/>
              </a:ext>
            </a:extLst>
          </p:cNvPr>
          <p:cNvSpPr txBox="1"/>
          <p:nvPr/>
        </p:nvSpPr>
        <p:spPr>
          <a:xfrm>
            <a:off x="8229600" y="2286000"/>
            <a:ext cx="283464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3600" b="1">
                <a:solidFill>
                  <a:srgbClr val="FF2A7A"/>
                </a:solidFill>
                <a:latin typeface="Arial"/>
              </a:defRPr>
            </a:pPr>
            <a:r>
              <a:rPr lang="en-US" dirty="0">
                <a:solidFill>
                  <a:srgbClr val="FFAFCD"/>
                </a:solidFill>
              </a:rPr>
              <a:t>03</a:t>
            </a:r>
            <a:endParaRPr dirty="0">
              <a:solidFill>
                <a:srgbClr val="FFAFCD"/>
              </a:solidFill>
            </a:endParaRPr>
          </a:p>
          <a:p>
            <a:pPr>
              <a:spcAft>
                <a:spcPts val="1400"/>
              </a:spcAft>
              <a:defRPr sz="2000" b="1">
                <a:solidFill>
                  <a:srgbClr val="FFFFFF"/>
                </a:solidFill>
                <a:latin typeface="Malgun Gothic"/>
              </a:defRPr>
            </a:pPr>
            <a:r>
              <a:rPr lang="en-US" altLang="ko-KR" dirty="0" err="1"/>
              <a:t>Kakao</a:t>
            </a:r>
            <a:r>
              <a:rPr lang="ko-KR" altLang="en-US" dirty="0"/>
              <a:t> </a:t>
            </a:r>
            <a:r>
              <a:rPr lang="en-US" altLang="ko-KR" dirty="0"/>
              <a:t>Map API </a:t>
            </a:r>
            <a:r>
              <a:rPr lang="ko-KR" altLang="en-US" dirty="0"/>
              <a:t>기반 지도 시각화</a:t>
            </a:r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altLang="ko-KR" dirty="0"/>
              <a:t>-</a:t>
            </a:r>
            <a:r>
              <a:rPr lang="ko-KR" altLang="en-US" dirty="0"/>
              <a:t>지도 위 마커 표시</a:t>
            </a:r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endParaRPr lang="ko-KR" altLang="en-US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altLang="ko-KR" dirty="0"/>
              <a:t>-</a:t>
            </a:r>
            <a:r>
              <a:rPr lang="ko-KR" altLang="en-US" dirty="0"/>
              <a:t>컨텐츠 별 마커 색상 구분</a:t>
            </a:r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endParaRPr lang="ko-KR" altLang="en-US" dirty="0"/>
          </a:p>
          <a:p>
            <a:pPr>
              <a:defRPr sz="1400">
                <a:solidFill>
                  <a:srgbClr val="8A99AD"/>
                </a:solidFill>
                <a:latin typeface="Malgun Gothic"/>
              </a:defRPr>
            </a:pPr>
            <a:r>
              <a:rPr lang="en-US" altLang="ko-KR" dirty="0"/>
              <a:t>-</a:t>
            </a:r>
            <a:r>
              <a:rPr lang="ko-KR" altLang="en-US" dirty="0"/>
              <a:t>특정 컨텐츠만 지도에 표시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406236-2377-45C9-AE86-6AF26218BA32}"/>
              </a:ext>
            </a:extLst>
          </p:cNvPr>
          <p:cNvSpPr txBox="1"/>
          <p:nvPr/>
        </p:nvSpPr>
        <p:spPr>
          <a:xfrm>
            <a:off x="914401" y="731520"/>
            <a:ext cx="5495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lang="en-US" sz="2400" dirty="0"/>
              <a:t>01. MVP </a:t>
            </a:r>
            <a:r>
              <a:rPr lang="ko-KR" altLang="en-US" sz="2400" dirty="0"/>
              <a:t>핵심 기능</a:t>
            </a:r>
            <a:endParaRPr sz="2400" dirty="0"/>
          </a:p>
        </p:txBody>
      </p:sp>
    </p:spTree>
    <p:extLst>
      <p:ext uri="{BB962C8B-B14F-4D97-AF65-F5344CB8AC3E}">
        <p14:creationId xmlns:p14="http://schemas.microsoft.com/office/powerpoint/2010/main" val="2091652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914401" y="731520"/>
            <a:ext cx="54956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Malgun Gothic"/>
              </a:defRPr>
            </a:pPr>
            <a:r>
              <a:rPr sz="2400" dirty="0"/>
              <a:t>02. </a:t>
            </a:r>
            <a:r>
              <a:rPr sz="2400" dirty="0" err="1"/>
              <a:t>사용자</a:t>
            </a:r>
            <a:r>
              <a:rPr sz="2400" dirty="0"/>
              <a:t> </a:t>
            </a:r>
            <a:r>
              <a:rPr sz="2400" dirty="0" err="1"/>
              <a:t>편의성</a:t>
            </a:r>
            <a:r>
              <a:rPr sz="2400" dirty="0"/>
              <a:t> </a:t>
            </a:r>
            <a:r>
              <a:rPr sz="2400" dirty="0" err="1"/>
              <a:t>극대화</a:t>
            </a:r>
            <a:r>
              <a:rPr sz="2400" dirty="0"/>
              <a:t> (</a:t>
            </a:r>
            <a:r>
              <a:rPr sz="2400" dirty="0" err="1"/>
              <a:t>추가</a:t>
            </a:r>
            <a:r>
              <a:rPr sz="2400" dirty="0"/>
              <a:t> </a:t>
            </a:r>
            <a:r>
              <a:rPr sz="2400" dirty="0" err="1"/>
              <a:t>기능</a:t>
            </a:r>
            <a:r>
              <a:rPr sz="2400" dirty="0"/>
              <a:t>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4FDB1C-D5A6-4A62-ADDB-509A7E7211DB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  <p:sp>
        <p:nvSpPr>
          <p:cNvPr id="20" name="Rounded Rectangle 5">
            <a:extLst>
              <a:ext uri="{FF2B5EF4-FFF2-40B4-BE49-F238E27FC236}">
                <a16:creationId xmlns:a16="http://schemas.microsoft.com/office/drawing/2014/main" id="{D616815D-7250-486E-9DCF-6D45D8EEE61F}"/>
              </a:ext>
            </a:extLst>
          </p:cNvPr>
          <p:cNvSpPr/>
          <p:nvPr/>
        </p:nvSpPr>
        <p:spPr>
          <a:xfrm>
            <a:off x="6837288" y="4795078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9CA7A6-C7E3-4B01-93AA-49B2454630E6}"/>
              </a:ext>
            </a:extLst>
          </p:cNvPr>
          <p:cNvSpPr txBox="1"/>
          <p:nvPr/>
        </p:nvSpPr>
        <p:spPr>
          <a:xfrm>
            <a:off x="7011236" y="5044172"/>
            <a:ext cx="4296251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>
                <a:solidFill>
                  <a:srgbClr val="FFAFCD"/>
                </a:solidFill>
              </a:rPr>
              <a:t>검색 기반 마커 필터링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검색창에 원하는 지역이나 키워드를 입력하면 검색된 콘텐츠 관련 마커들만 추출되어 지도에 노출됩니다</a:t>
            </a:r>
            <a:r>
              <a:rPr lang="en-US" altLang="ko-KR" dirty="0"/>
              <a:t>.</a:t>
            </a:r>
          </a:p>
        </p:txBody>
      </p:sp>
      <p:sp>
        <p:nvSpPr>
          <p:cNvPr id="16" name="Rounded Rectangle 5">
            <a:extLst>
              <a:ext uri="{FF2B5EF4-FFF2-40B4-BE49-F238E27FC236}">
                <a16:creationId xmlns:a16="http://schemas.microsoft.com/office/drawing/2014/main" id="{974AF27C-1BFD-4E2B-9A03-4809254D5760}"/>
              </a:ext>
            </a:extLst>
          </p:cNvPr>
          <p:cNvSpPr/>
          <p:nvPr/>
        </p:nvSpPr>
        <p:spPr>
          <a:xfrm>
            <a:off x="6837288" y="3170900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DC4FBD-9F03-4C69-A099-223369D3F75B}"/>
              </a:ext>
            </a:extLst>
          </p:cNvPr>
          <p:cNvSpPr txBox="1"/>
          <p:nvPr/>
        </p:nvSpPr>
        <p:spPr>
          <a:xfrm>
            <a:off x="6956150" y="3419994"/>
            <a:ext cx="4351335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>
                <a:solidFill>
                  <a:srgbClr val="FFAFCD"/>
                </a:solidFill>
              </a:rPr>
              <a:t>마커 상세 팝업 윈도우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지도의 마커를 클릭하면</a:t>
            </a:r>
            <a:r>
              <a:rPr lang="en-US" altLang="ko-KR" dirty="0"/>
              <a:t> </a:t>
            </a:r>
            <a:r>
              <a:rPr lang="ko-KR" altLang="en-US" dirty="0" err="1"/>
              <a:t>장소명</a:t>
            </a:r>
            <a:r>
              <a:rPr lang="en-US" altLang="ko-KR" dirty="0"/>
              <a:t>, </a:t>
            </a:r>
            <a:r>
              <a:rPr lang="ko-KR" altLang="en-US" dirty="0"/>
              <a:t>이미지</a:t>
            </a:r>
            <a:r>
              <a:rPr lang="en-US" altLang="ko-KR" dirty="0"/>
              <a:t>, </a:t>
            </a:r>
            <a:r>
              <a:rPr lang="ko-KR" altLang="en-US" dirty="0"/>
              <a:t>주소 등 풍부한 상세 정보 윈도우가 팝업 됩니다</a:t>
            </a:r>
            <a:r>
              <a:rPr lang="en-US" altLang="ko-KR" dirty="0"/>
              <a:t>.</a:t>
            </a:r>
          </a:p>
        </p:txBody>
      </p:sp>
      <p:sp>
        <p:nvSpPr>
          <p:cNvPr id="23" name="Rounded Rectangle 5">
            <a:extLst>
              <a:ext uri="{FF2B5EF4-FFF2-40B4-BE49-F238E27FC236}">
                <a16:creationId xmlns:a16="http://schemas.microsoft.com/office/drawing/2014/main" id="{6D5F90C4-F693-46E5-B3C0-79EFE9D22AB0}"/>
              </a:ext>
            </a:extLst>
          </p:cNvPr>
          <p:cNvSpPr/>
          <p:nvPr/>
        </p:nvSpPr>
        <p:spPr>
          <a:xfrm>
            <a:off x="6837288" y="1533608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D6123-60CD-4A57-99F2-A9E8E4DE826C}"/>
              </a:ext>
            </a:extLst>
          </p:cNvPr>
          <p:cNvSpPr txBox="1"/>
          <p:nvPr/>
        </p:nvSpPr>
        <p:spPr>
          <a:xfrm>
            <a:off x="7011236" y="1783164"/>
            <a:ext cx="4432617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>
                <a:solidFill>
                  <a:srgbClr val="FFAFCD"/>
                </a:solidFill>
              </a:rPr>
              <a:t>실시간 마커 동기화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/>
              <a:t>메뉴에서 관광지</a:t>
            </a:r>
            <a:r>
              <a:rPr lang="en-US" altLang="ko-KR" dirty="0"/>
              <a:t>, </a:t>
            </a:r>
            <a:r>
              <a:rPr lang="ko-KR" altLang="en-US" dirty="0"/>
              <a:t>숙박</a:t>
            </a:r>
            <a:r>
              <a:rPr lang="en-US" altLang="ko-KR" dirty="0"/>
              <a:t>, </a:t>
            </a:r>
            <a:r>
              <a:rPr lang="ko-KR" altLang="en-US" dirty="0"/>
              <a:t>문화시설 등 카테고리를 클릭하면 실시간으로 지도 위에 전용 마커가 시각화 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62BA9109-B7A4-4EE2-9A4E-7584984E03A8}"/>
              </a:ext>
            </a:extLst>
          </p:cNvPr>
          <p:cNvSpPr/>
          <p:nvPr/>
        </p:nvSpPr>
        <p:spPr>
          <a:xfrm>
            <a:off x="1673033" y="4735754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00841A-C148-4BAA-AC97-278E863E8653}"/>
              </a:ext>
            </a:extLst>
          </p:cNvPr>
          <p:cNvSpPr txBox="1"/>
          <p:nvPr/>
        </p:nvSpPr>
        <p:spPr>
          <a:xfrm>
            <a:off x="1830051" y="5044172"/>
            <a:ext cx="4293963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>
                <a:solidFill>
                  <a:srgbClr val="FFAFCD"/>
                </a:solidFill>
              </a:rPr>
              <a:t>축제공연 행사 검색기능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b="0" i="0" dirty="0">
                <a:solidFill>
                  <a:schemeClr val="bg1"/>
                </a:solidFill>
                <a:effectLst/>
              </a:rPr>
              <a:t>원하는 기간을 설정하면 그 기간에 해당하는 축제공연행사 마커 노출됩니다</a:t>
            </a:r>
            <a:r>
              <a:rPr lang="en-US" altLang="ko-KR" b="0" i="0" dirty="0">
                <a:solidFill>
                  <a:schemeClr val="bg1"/>
                </a:solidFill>
                <a:effectLst/>
              </a:rPr>
              <a:t>.</a:t>
            </a:r>
            <a:endParaRPr lang="ko-KR" altLang="en-US" b="0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0" name="Rounded Rectangle 5">
            <a:extLst>
              <a:ext uri="{FF2B5EF4-FFF2-40B4-BE49-F238E27FC236}">
                <a16:creationId xmlns:a16="http://schemas.microsoft.com/office/drawing/2014/main" id="{F6625E4E-9A8A-4D7A-9349-9547A8D28D67}"/>
              </a:ext>
            </a:extLst>
          </p:cNvPr>
          <p:cNvSpPr/>
          <p:nvPr/>
        </p:nvSpPr>
        <p:spPr>
          <a:xfrm>
            <a:off x="1673033" y="3132196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7AD9275-6D1A-40A4-820F-9A4EC456CC30}"/>
              </a:ext>
            </a:extLst>
          </p:cNvPr>
          <p:cNvSpPr txBox="1"/>
          <p:nvPr/>
        </p:nvSpPr>
        <p:spPr>
          <a:xfrm>
            <a:off x="1802037" y="3381290"/>
            <a:ext cx="4367854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 err="1">
                <a:solidFill>
                  <a:srgbClr val="FFAFCD"/>
                </a:solidFill>
              </a:rPr>
              <a:t>다크모드</a:t>
            </a:r>
            <a:endParaRPr lang="ko-KR" altLang="en-US" dirty="0">
              <a:solidFill>
                <a:srgbClr val="FFAFCD"/>
              </a:solidFill>
            </a:endParaRP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dirty="0">
                <a:solidFill>
                  <a:schemeClr val="bg1"/>
                </a:solidFill>
              </a:rPr>
              <a:t>어둡고 모던한 디자인 컨셉으로 눈의 피로를 최소화하며 심미적인 </a:t>
            </a:r>
            <a:r>
              <a:rPr lang="en-US" altLang="ko-KR" dirty="0">
                <a:solidFill>
                  <a:schemeClr val="bg1"/>
                </a:solidFill>
              </a:rPr>
              <a:t>UI </a:t>
            </a:r>
            <a:r>
              <a:rPr lang="ko-KR" altLang="en-US" dirty="0">
                <a:solidFill>
                  <a:schemeClr val="bg1"/>
                </a:solidFill>
              </a:rPr>
              <a:t>경험을 제공합니다</a:t>
            </a:r>
            <a:r>
              <a:rPr lang="en-US" altLang="ko-KR" dirty="0">
                <a:solidFill>
                  <a:schemeClr val="bg1"/>
                </a:solidFill>
              </a:rPr>
              <a:t>.</a:t>
            </a:r>
            <a:endParaRPr lang="ko-KR" altLang="en-US" b="0" i="0" dirty="0">
              <a:solidFill>
                <a:schemeClr val="bg1"/>
              </a:solidFill>
              <a:effectLst/>
            </a:endParaRPr>
          </a:p>
        </p:txBody>
      </p:sp>
      <p:sp>
        <p:nvSpPr>
          <p:cNvPr id="32" name="Rounded Rectangle 5">
            <a:extLst>
              <a:ext uri="{FF2B5EF4-FFF2-40B4-BE49-F238E27FC236}">
                <a16:creationId xmlns:a16="http://schemas.microsoft.com/office/drawing/2014/main" id="{2C192A78-358A-4F55-99E3-737D4E83B287}"/>
              </a:ext>
            </a:extLst>
          </p:cNvPr>
          <p:cNvSpPr/>
          <p:nvPr/>
        </p:nvSpPr>
        <p:spPr>
          <a:xfrm>
            <a:off x="1673033" y="1533608"/>
            <a:ext cx="4608000" cy="1344574"/>
          </a:xfrm>
          <a:prstGeom prst="roundRect">
            <a:avLst/>
          </a:prstGeom>
          <a:solidFill>
            <a:srgbClr val="141A29"/>
          </a:solidFill>
          <a:ln w="12700">
            <a:solidFill>
              <a:schemeClr val="bg1"/>
            </a:solidFill>
          </a:ln>
          <a:effectLst>
            <a:glow rad="101600">
              <a:srgbClr val="EF79C5">
                <a:alpha val="40000"/>
              </a:srgbClr>
            </a:glo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B0FF527-1654-4B62-A6CB-1BD5AECF4441}"/>
              </a:ext>
            </a:extLst>
          </p:cNvPr>
          <p:cNvSpPr txBox="1"/>
          <p:nvPr/>
        </p:nvSpPr>
        <p:spPr>
          <a:xfrm>
            <a:off x="1802037" y="1783164"/>
            <a:ext cx="4367854" cy="8463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FF2A7A"/>
                </a:solidFill>
                <a:latin typeface="Malgun Gothic"/>
              </a:defRPr>
            </a:pPr>
            <a:r>
              <a:rPr lang="en-US" altLang="ko-KR" dirty="0">
                <a:solidFill>
                  <a:srgbClr val="FFAFCD"/>
                </a:solidFill>
              </a:rPr>
              <a:t>• </a:t>
            </a:r>
            <a:r>
              <a:rPr lang="ko-KR" altLang="en-US" dirty="0">
                <a:solidFill>
                  <a:srgbClr val="FFAFCD"/>
                </a:solidFill>
              </a:rPr>
              <a:t>목록기능</a:t>
            </a:r>
          </a:p>
          <a:p>
            <a:pPr>
              <a:defRPr sz="1300">
                <a:solidFill>
                  <a:srgbClr val="FFFFFF"/>
                </a:solidFill>
                <a:latin typeface="Malgun Gothic"/>
              </a:defRPr>
            </a:pPr>
            <a:r>
              <a:rPr lang="ko-KR" altLang="en-US" b="0" i="0" dirty="0">
                <a:solidFill>
                  <a:schemeClr val="bg1"/>
                </a:solidFill>
                <a:effectLst/>
              </a:rPr>
              <a:t>상세정보를 카테고리 별로 분류하여 한 눈에 보기 쉽게 구현하였습니다</a:t>
            </a:r>
            <a:r>
              <a:rPr lang="en-US" altLang="ko-KR" b="0" i="0" dirty="0">
                <a:solidFill>
                  <a:schemeClr val="bg1"/>
                </a:solidFill>
                <a:effectLst/>
              </a:rPr>
              <a:t>.</a:t>
            </a:r>
            <a:endParaRPr lang="ko-KR" altLang="en-US" b="0" i="0" dirty="0">
              <a:solidFill>
                <a:schemeClr val="bg1"/>
              </a:solidFill>
              <a:effectLst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71600" y="1371600"/>
            <a:ext cx="9448495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0"/>
              </a:spcAft>
              <a:defRPr sz="1800" b="1">
                <a:solidFill>
                  <a:srgbClr val="FF2A7A"/>
                </a:solidFill>
                <a:latin typeface="Arial"/>
              </a:defRPr>
            </a:pPr>
            <a:r>
              <a:rPr dirty="0">
                <a:solidFill>
                  <a:srgbClr val="FFAFCD"/>
                </a:solidFill>
              </a:rPr>
              <a:t>LIVE DEMONSTRATION</a:t>
            </a:r>
          </a:p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rPr dirty="0"/>
              <a:t>EODIHOT </a:t>
            </a:r>
            <a:r>
              <a:rPr dirty="0" err="1"/>
              <a:t>실제</a:t>
            </a:r>
            <a:r>
              <a:rPr dirty="0"/>
              <a:t> </a:t>
            </a:r>
            <a:r>
              <a:rPr dirty="0" err="1"/>
              <a:t>플랫폼</a:t>
            </a:r>
            <a:r>
              <a:rPr dirty="0"/>
              <a:t> </a:t>
            </a:r>
            <a:r>
              <a:rPr dirty="0" err="1"/>
              <a:t>기능</a:t>
            </a:r>
            <a:r>
              <a:rPr dirty="0"/>
              <a:t> </a:t>
            </a:r>
            <a:r>
              <a:rPr dirty="0" err="1"/>
              <a:t>시연</a:t>
            </a:r>
            <a:endParaRPr lang="en-US" dirty="0"/>
          </a:p>
          <a:p>
            <a:pPr algn="ctr">
              <a:spcAft>
                <a:spcPts val="2000"/>
              </a:spcAft>
              <a:defRPr sz="4000" b="1">
                <a:solidFill>
                  <a:srgbClr val="FFFFFF"/>
                </a:solidFill>
                <a:latin typeface="Malgun Gothic"/>
              </a:defRPr>
            </a:pP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9B850-300B-4964-980E-124418225CC7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670D1-92A7-41A6-A885-5839F9D60B3C}"/>
              </a:ext>
            </a:extLst>
          </p:cNvPr>
          <p:cNvSpPr txBox="1"/>
          <p:nvPr/>
        </p:nvSpPr>
        <p:spPr>
          <a:xfrm>
            <a:off x="4566036" y="3484999"/>
            <a:ext cx="3059622" cy="369332"/>
          </a:xfrm>
          <a:prstGeom prst="rect">
            <a:avLst/>
          </a:prstGeom>
          <a:noFill/>
          <a:ln w="34925" cap="rnd">
            <a:noFill/>
            <a:prstDash val="sysDash"/>
            <a:round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b="0" i="0" u="none" strike="noStrike" dirty="0">
                <a:solidFill>
                  <a:schemeClr val="bg1"/>
                </a:solidFill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https://eodihot.netlify.app/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16592" y="2636982"/>
            <a:ext cx="51585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감사합니다</a:t>
            </a:r>
            <a:r>
              <a:rPr dirty="0"/>
              <a:t>. </a:t>
            </a:r>
            <a:endParaRPr lang="en-US" dirty="0"/>
          </a:p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endParaRPr lang="en-US" dirty="0"/>
          </a:p>
          <a:p>
            <a:pPr algn="ctr">
              <a:defRPr sz="1800" b="1">
                <a:solidFill>
                  <a:srgbClr val="FFFFFF"/>
                </a:solidFill>
                <a:latin typeface="Malgun Gothic"/>
              </a:defRPr>
            </a:pPr>
            <a:r>
              <a:rPr dirty="0" err="1"/>
              <a:t>질의응답을</a:t>
            </a:r>
            <a:r>
              <a:rPr dirty="0"/>
              <a:t> </a:t>
            </a:r>
            <a:r>
              <a:rPr dirty="0" err="1"/>
              <a:t>진행하도록</a:t>
            </a:r>
            <a:r>
              <a:rPr dirty="0"/>
              <a:t> </a:t>
            </a:r>
            <a:r>
              <a:rPr dirty="0" err="1"/>
              <a:t>하겠습니다</a:t>
            </a:r>
            <a:r>
              <a:rPr dirty="0"/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B9B850-300B-4964-980E-124418225CC7}"/>
              </a:ext>
            </a:extLst>
          </p:cNvPr>
          <p:cNvSpPr txBox="1"/>
          <p:nvPr/>
        </p:nvSpPr>
        <p:spPr>
          <a:xfrm>
            <a:off x="287141" y="199180"/>
            <a:ext cx="8447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solidFill>
                  <a:srgbClr val="5F5F5F"/>
                </a:solidFill>
              </a:rPr>
              <a:t>EODIHOT</a:t>
            </a:r>
            <a:endParaRPr lang="ko-KR" altLang="en-US" sz="1200" dirty="0">
              <a:solidFill>
                <a:srgbClr val="5F5F5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7110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251</Words>
  <Application>Microsoft Office PowerPoint</Application>
  <PresentationFormat>와이드스크린</PresentationFormat>
  <Paragraphs>51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Malgun Gothic</vt:lpstr>
      <vt:lpstr>Malgun Gothic</vt:lpstr>
      <vt:lpstr>Arial</vt:lpstr>
      <vt:lpstr>Open Sans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14</cp:revision>
  <dcterms:created xsi:type="dcterms:W3CDTF">2026-07-16T01:49:21Z</dcterms:created>
  <dcterms:modified xsi:type="dcterms:W3CDTF">2026-07-16T06:23:38Z</dcterms:modified>
</cp:coreProperties>
</file>